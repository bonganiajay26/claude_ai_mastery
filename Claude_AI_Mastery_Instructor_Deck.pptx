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notesMasterIdLst>
    <p:notesMasterId r:id="rId8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0D4D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Mastery — From Beginner to Enterprise AI Engineer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6019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</a:t>
            </a:r>
            <a:endParaRPr lang="en-US" sz="9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F5A52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83080"/>
            <a:ext cx="12191695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Mastery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Beginner to Enterprise AI Engineer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100-module professional training program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modules</a:t>
            </a:r>
            <a:pPr indent="0" marL="0">
              <a:buNone/>
            </a:pPr>
            <a:r>
              <a:rPr lang="en-US" sz="1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weeks</a:t>
            </a:r>
            <a:pPr indent="0" marL="0">
              <a:buNone/>
            </a:pPr>
            <a:r>
              <a:rPr lang="en-US" sz="1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phases</a:t>
            </a:r>
            <a:pPr indent="0" marL="0">
              <a:buNone/>
            </a:pPr>
            <a:r>
              <a:rPr lang="en-US" sz="1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capstones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AJSSN — Senior AI Architect Training Program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(April 2026)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 in 20 weeks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build, and deploy production-grade Claude applications.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enterprise RAG, agent, and automation systems.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Claude with Slack, Notion, GitHub, Zapier, LangChain, LlamaIndex, databases, and CRMs.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portfolio of five capstone projects hosted on GitHub.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technical interviews for AI Engineer, LLM Engineer, and AI Architect roles.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phases, one hundred modules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00400"/>
                <a:gridCol w="1463040"/>
                <a:gridCol w="57908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 summary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&amp; Claude Foundations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1–15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correct mental model of AI, LLMs, and Claude. Learn to prompt, evaluate, and reason about limitations before writing a single line of code.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Productivity &amp; Practical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16–35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Claude to daily work: documentation, coding, research, meetings, email, automation. Convert prompt skills into productivity leverage.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API &amp; 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36–55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from chat to code. Call the Claude API from Python and Node, manage keys, stream output, and ship your first real AI app.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AI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56–80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 to RAG, embeddings, vector databases, agents, tools, and framework integrations. Build systems that reason over private data.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Claude AI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81–95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Operate Claude at scale: architecture, security, cost, observability, CI/CD, and governance.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AI Projects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96–100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five portfolio capstones with architecture, code, and GitHub templates.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catalog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Claude plugs into the rest of the stack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  <a:gridCol w="45107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Claude answers to channels, DMs, and slash commands.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E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Slack app + Events API + Claude API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pages into RAG, auto-generate docs back into Notion.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E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Notion API + Claude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No-code triggers (email, forms, CRM) calling Claude.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E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Zapier Anthropic action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reviews, test generation, release notes, issue triage.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E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GitHub Actions + Octokit + Claude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Chains, memory, agents, retrievers.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E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langchain-anthropic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indexing, query engines, sub-question routing.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E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llama-index-llms-anthropic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Workspace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Drive/Docs/Sheets automation, Gmail drafting.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E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Google APIs + Claude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Text-to-SQL, schema explanation, data QA.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E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psycopg2/SQLAlchemy + Claude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(Salesforce/HubSpot)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summaries, lead enrichment, next-best-action.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E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Salesforce/HubSpot API + Claude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plan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20-week pacing, one lab per evening (optional)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modules per week, 1 lab per evening (optional), 1 capstone across 2 weeks.
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size: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8–25 students recommended.
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bootcamp (full-day) • Part-time evening cohort (3h x 2/week) • Self-paced with weekly office hours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55778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44805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AI, LLMs, Claude; first prompts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engineering, structure, CoT, personas, few-shot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Sampling, long context, hallucinations, ethics, P1 capstone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Documentation, code gen, review, debugging, 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Research, data, SQL, meetings,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Slides, translation, editing, creative, optimization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Templating, workflows, artifacts, files, P2 capstone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API, auth, Python, TS, streaming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Messages, tools, multi-tool, vision, PDFs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Limits, errors, async, FastAPI bot, deploy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2880360"/>
          <a:ext cx="55778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44805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Slack, Discord, CLI, SMS, P3 capstone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RAG, embeddings, vector DBs, Pinecone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Weaviate, Chroma, pgvector, chunking, 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Reranking, RAG quality, eval, agents,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at scale, guardrails, LangChain, LCEL, LangGraph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LlamaIndex, production RAG, Zapier/n8n/Airflow, P4 capstone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arch, microservices, multi-tenant, workflows,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Injection, PII, audit, scaling,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Monitoring, CI/CD, canary, upgrades, P5 capstone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 projects + demos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Claude Foundations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1–15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correct mental model of AI, LLMs, and Claude. Learn to prompt, evaluate, and reason about limitations before writing a single line of code.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Goals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Claude Foundations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correct mental model of AI, LLMs, and Claude. Learn to prompt, evaluate, and reason about limitations before writing a single line of code.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10944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an LLM is and isn't.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Claude chat interface proficiently.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structured prompts that reliably produce quality output.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AI risks, hallucinations, and ethical boundaries.</a:t>
            </a:r>
            <a:endParaRPr lang="en-US" sz="1500" dirty="0"/>
          </a:p>
        </p:txBody>
      </p:sp>
      <p:sp>
        <p:nvSpPr>
          <p:cNvPr id="9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Slide plan (1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Claude Foundations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and promise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course exists in 2026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stack in one picture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essentials — tokens, embeddings, attention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Claude family (Opus / Sonnet / Haiku)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 interface: Projects, Artifacts, Files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Slide plan (2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Claude Foundations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and limits — one honest slide each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the 6-part template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prompting with XML tags and JSON schemas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and self-critique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style control, few-shot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determinism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Slide plan (3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Claude Foundations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 strategies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and groundedness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and safety mindset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capstone brief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Introduction to Artificial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AI &amp; Claude Foundations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AI is the engineering discipline of making machines perform tasks that normally require human intelligence — perception, reasoning, language, and decision-making.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Every major industry is being re-tooled around AI. Understanding the field gives you a map of where LLMs, agents, and Claude fit.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Use AI when the problem is pattern-rich, data-rich, and rules-poor — or when scale makes human-only workflows uneconomical.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AI = software that learns patterns from examples instead of being told every rule.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IT: AI-assisted ticket triage; DevOps: anomaly detection in logs; Software: code completion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Slack, Notion, GitHub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Introduction to Large Language Models (LLMs)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AI &amp; Claude Foundations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LLMs are transformer-based neural networks trained to predict the next token over enormous text corpora, which gives them surprisingly general language and reasoning abilities.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LLMs are the substrate under Claude, ChatGPT, Gemini, and nearly every modern AI product. Everything else in this course sits on top of this idea.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When input and output are naturally text (or can be made text: JSON, code, tables, transcripts).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An LLM is autocomplete on steroids — trained on so much text it learned to reason while predicting the next word.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Summarize tickets; Draft release notes; Extract entities from PDFs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GitHub, Slack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Claude AI Overview and Model Family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AI &amp; Claude Foundations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Claude is Anthropic's family of frontier LLMs (Opus, Sonnet, Haiku) designed for safety, steerability, and enterprise use.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Choosing the right Claude tier is the single biggest lever on cost, latency, and quality in any production system.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Opus for hardest reasoning; Sonnet for the default production workhorse; Haiku for high-volume, latency-sensitive flows.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Opus = brain surgeon. Sonnet = senior engineer. Haiku = fast intern.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Tiered routing by query difficulty; Draft/refine pattern (Haiku drafts, Sonnet refines); Batch classification on Haiku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Slack, Google Workspace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Productivity &amp; Practical Use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16–35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Claude to daily work: documentation, coding, research, meetings, email, automation. Convert prompt skills into productivity leverage.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Goals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Productivity &amp; Practical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Claude to daily work: documentation, coding, research, meetings, email, automation. Convert prompt skills into productivity leverage.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10944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30%+ of repetitive knowledge work with Claude.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prompt templates and Projects.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multi-step Claude workflows with Artifacts and Files.</a:t>
            </a:r>
            <a:endParaRPr lang="en-US" sz="1500" dirty="0"/>
          </a:p>
        </p:txBody>
      </p:sp>
      <p:sp>
        <p:nvSpPr>
          <p:cNvPr id="9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Slide plan (1 of 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Productivity &amp; Practical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goals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technical documentation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code generation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code review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debugging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automated testing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Slide plan (2 of 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Productivity &amp; Practical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research &amp; literature review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data analysis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SQL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meeting notes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email and comms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slides and decks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Slide plan (3 of 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Productivity &amp; Practical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and localization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and tone control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ideation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optimization (promptfoo, DSPy)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as versioned templates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workflows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Slide plan (4 of 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Productivity &amp; Practical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and Files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capstone brief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Claude for Technical Documentation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Claude Productivity &amp; Practical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Use Claude to draft, maintain, and refactor technical docs — READMEs, API references, runbooks, architecture notes.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Documentation is chronically under-resourced; Claude collapses a 1-day task into 30 minutes while improving consistency.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Start drafting from code, diff summaries, or meeting transcripts; update when APIs change.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Hand Claude the code and say 'write the docs.'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Generate README from repo; Runbook from incident postmortem; Changelog from git 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GitHub, Notion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— Claude for Code Generation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Claude Productivity &amp; Practical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Generate functions, classes, scaffolding, and whole modules from intent, tests, or API specs.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Most code is glue. Claude removes the glue tax and lets engineers focus on design and tests.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Greenfield modules, boilerplate, migrations, and repetitive patterns.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Describe what you want; Claude writes the first draft.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Boilerplate endpoints; Terraform modules; Data-loading scripts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GitHub, Databases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18 — Claude for Code Review and Refactoring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Claude Productivity &amp; Practical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Use Claude to review diffs, catch bugs, suggest refactors, and enforce style — on PRs or locally.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A tireless senior reviewer cuts merge cycle time and improves quality across the team.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Before merging, on large refactors, or when onboarding new engineers.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Paste the diff, ask 'what would a senior reviewer say?'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Auto-comment on PRs; Security-focused review of IaC; Legacy refactor assistant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GitHub, Slack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&amp; Development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36–55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chat to code. Call the Claude API from Python and Node, manage keys, stream output, and ship your first real AI app.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Goals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&amp; Development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chat to code. Call the Claude API from Python and Node, manage keys, stream output, and ship your first real AI app.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10944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Claude from Python and Node with auth, retries, and streaming.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chatbots, summarizers, classifiers, and extractors.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Claude app to a cloud container.</a:t>
            </a:r>
            <a:endParaRPr lang="en-US" sz="1500" dirty="0"/>
          </a:p>
        </p:txBody>
      </p:sp>
      <p:sp>
        <p:nvSpPr>
          <p:cNvPr id="9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Slide plan (1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&amp; Development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 to code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Messages API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and key management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Python call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TypeScript call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Slide plan (2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&amp; Development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and multi-turn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basics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orchestration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and PDFs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and retries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Slide plan (3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&amp; Development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and batch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chatbot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 and deploy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Discord / CLI / SMS integrations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capstone brief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36 — Introduction to the Claude API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Claude API &amp; Development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The Claude REST API exposes Claude as a JSON service with messages, tools, streaming, vision, and files.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Moves Claude from a chat UI into your products, scripts, and pipelines.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When a feature needs to be programmatic, repeatable, or embedded.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You POST a conversation; Claude POSTs back a reply.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Replace rules engines with LLM classification; Dynamic text generation in apps; Pipeline narration and summarization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GitHub, Databases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37 — API Authentication and Key Management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Claude API &amp; Development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API keys are the credential that authorizes your calls — treat them like database passwords.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Leaked keys cost money and can violate data protection commitments.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From the first call onward.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Never commit keys; use env vars and secret managers.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Per-team API keys; Rotated keys in CI; Break-glass keys for incidents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GitHub Actions, AWS/GCP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38 — First Real API Call — Python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Claude API &amp; Development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Walk through a complete Python example: env setup, client, messages, error handling, logging.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Get from 'works on my machine' to a minimally robust call.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Your very first integration.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Put it behind a function with retries and logs.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Utility function in any Python app; Jupyter analysis; Microservice handler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GitHub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Engineering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56–80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to RAG, embeddings, vector databases, agents, tools, and framework integrations. Build systems that reason over private data.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Goals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Engineering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to RAG, embeddings, vector databases, agents, tools, and framework integrations. Build systems that reason over private data.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10944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end-to-end RAG pipelines.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Claude agents with tool-use, memory, and guardrails.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LangChain and LlamaIndex where they add real value.</a:t>
            </a:r>
            <a:endParaRPr lang="en-US" sz="1500" dirty="0"/>
          </a:p>
        </p:txBody>
      </p:sp>
      <p:sp>
        <p:nvSpPr>
          <p:cNvPr id="9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Slide plan (1 of 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Engineering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goals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and geometry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providers compared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overview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/ Weaviate / Chroma / pgvector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Slide plan (2 of 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Engineering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with RRF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Reranking: the multiplier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quality metrics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pipelines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— ReAct, Plan-Execute, Reflexion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Slide plan (3 of 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Engineering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patterns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at scale with permissions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and safety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and LCEL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stateful agents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indexing and query engines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Slide plan (4 of 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Engineering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production RAG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pipelines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capstone brief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56 — Retrieval-Augmented Generation (RAG) — Foundations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Advanced AI Engineering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RAG augments an LLM at query time with relevant snippets retrieved from a knowledge base, so answers are grounded in your data.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Claude can now answer about proprietary content, stay current, and cite sources.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Whenever the needed knowledge isn't in the model's weights.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Search first; ask Claude second.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Internal wiki Q&amp;A; Product support; Compliance lookup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Notion, Google Workspace, Databases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57 — Embeddings — Concepts and Geometry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Advanced AI Engineering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Embeddings map text to dense vectors whose distance approximates semantic similarity.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They enable semantic search, clustering, and recommendation over unstructured data.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Whenever you need 'similar' over text.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Embeddings turn meaning into math.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Similar-ticket clustering; Deduplication; Search ranking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Databases (pgvector)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58 — Embedding Providers — Hosted and Local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Advanced AI Engineering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Survey of hosted (Voyage, OpenAI, Cohere) and local (BGE, E5, Instructor) embedding models — trade-offs.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Model choice sets the quality ceiling for RAG.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Before committing to an index.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Host for scale; local for control and cost.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Hosted for fast start; Local for air-gapped deployments; Domain-tuned for highest quality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Databases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Claude AI Systems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81–95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Claude at scale: architecture, security, cost, observability, CI/CD, and governance.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Goals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Claude AI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Claude at scale: architecture, security, cost, observability, CI/CD, and governance.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10944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 enterprise AI reference architecture.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security, PII redaction, and audit logging.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monitoring, cost guardrails, and CI/CD for AI.</a:t>
            </a:r>
            <a:endParaRPr lang="en-US" sz="1500" dirty="0"/>
          </a:p>
        </p:txBody>
      </p:sp>
      <p:sp>
        <p:nvSpPr>
          <p:cNvPr id="9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Slide plan (1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Claude AI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reference architecture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microservices and contracts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design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workflows (Temporal)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secrets, network, identity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and robustness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Slide plan (2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Claude AI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GDPR, HIPAA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and compliance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caching and queuing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 and routing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SLOs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for AI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Slide plan (3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Claude AI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and online eval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upgrade playbook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capstone brief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81 — Enterprise AI Reference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Enterprise Claude AI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A layered architecture: ingress, orchestration, model gateway, RAG/tool layer, safety, observability, and governance.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Without a reference, teams reinvent wheels and create inconsistent security and cost profiles.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Before the second team ships a Claude feature.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A published blueprint every team builds against.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Shared platform for 5+ AI products; Reg-heavy industries; Global enterprises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Databases, Slack, GitHub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82 — AI Microservices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Enterprise Claude AI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Break Claude features into composable microservices (embeddings, retrieval, orchestration, models) with clear contracts.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Scales the organization: teams move independently.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Past 5 features or 3 teams.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Small services, strong contracts.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Shared rerank service; Shared embeddings service; Shared policy service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Databases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83 — Multi-Tenant Claude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Enterprise Claude AI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Design for many customers/users with isolation, quotas, and customization.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SaaS realities: noisy neighbors, data isolation, per-tenant prompts.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Second paying customer.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Tenant id everywhere — logs, vectors, tools, limits.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Support SaaS; Legal SaaS; Analytics SaaS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Databases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 Projects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96–100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five portfolio capstones with architecture, code, and GitHub templates.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Goals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 Projects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five portfolio capstones with architecture, code, and GitHub templates.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10944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five end-to-end capstone projects.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portfolio-ready GitHub repositories.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each project with architecture and ROI narrative.</a:t>
            </a:r>
            <a:endParaRPr lang="en-US" sz="1500" dirty="0"/>
          </a:p>
        </p:txBody>
      </p:sp>
      <p:sp>
        <p:nvSpPr>
          <p:cNvPr id="9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Slide plan (1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 Projects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— IT Helpdesk Assistant: architecture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— build steps and demo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2 — Enterprise Knowledge Chatbot: architecture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2 — build steps and demo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3 — AI Documentation Generator: architecture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3 — build steps and demo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Slide plan (2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 Projects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4 — DevOps Automation Bot: architecture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4 — build steps and demo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5 — AI Research Assistant: architecture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5 — build steps and demo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rubric and evaluation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 — AI Engineer, LLM Engineer, AI Architect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Slide plan (3 of 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 Projects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8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96 — Capstone 1 — Claude AI IT Helpdesk Assistant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Real-World AI Projects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An agent that triages, classifies, answers, and (with approval) resolves IT tickets end-to-end.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Helpdesk is the highest-ROI place to deploy AI in most enterprises.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Now — before your backlog grows.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A tireless Tier-1 analyst backed by your knowledge base.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Password reset; Software access requests; How-to questions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Slack, Databases, CRM/ITSM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97 — Capstone 2 — Enterprise Knowledge AI Chatbot (RAG)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Real-World AI Projects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Company-wide chatbot that answers from Notion, Google Drive, and GitHub with citations and ACLs.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Kills the 'where is this document?' problem; dramatically improves onboarding.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Once you have &gt;50 active employees and a content sprawl.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A single search box that actually finds and answers things.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New-hire onboarding; Policy Q&amp;A; Customer-facing self-serve docs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Notion, Google Workspace, GitHub, Slack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98 — Capstone 3 — AI Documentation Generator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Real-World AI Projects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A tool that reads code + diffs + tests and produces docs, READMEs, and changelogs — continuously.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Docs are never done. This keeps them current with minimal human cost.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Once you have 3+ services or 1 public API.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Merge a PR → docs get updated automatically.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API reference updates; Changelog generation; Onboarding docs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GitHub, Notion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99 — Capstone 4 — DevOps AI Automation Bot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Real-World AI Projects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A bot that triages alerts, drafts runbook steps, proposes fixes, and (with approval) executes safe commands.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Shrinks MTTR and frees on-call engineers from repetitive toil.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When you have enough alert volume to justify automation.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Alerts come in → bot summarizes, diagnoses, and (sometimes) fixes.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CrashLoopBackOff triage; Elevated-latency investigations; Deployment rollback suggestion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Slack, Databases, GitHub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100 — Capstone 5 — AI Research Assistant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Real-World AI Projects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A multi-agent research assistant that searches, reads, synthesizes, and cites across web and private sources.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Demonstrates agents, RAG, and tool use at their limits; produces portfolio-grade deliverables.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Capstone of capstones.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Tell it a topic; get a cited report.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Competitor analysis; Policy memo; Market entry report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Notion, Google Workspace, Databases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Portfolio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shippable, portfolio-ready projects</a:t>
            </a:r>
            <a:endParaRPr 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— Claude AI IT Helpdesk Assistant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—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is the highest-ROI place to deploy AI in most enterprises.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FastAPI + Slack + pgvector (RAG) + tool-use (ticket system, password reset, MFA) + guardrails + approval queue.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4415" cy="164592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343400"/>
            <a:ext cx="10881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 -&gt; Agent -&gt; RAG (KB) -&gt; Tools (tickets/reset) -&gt; Approval (if risky) -&gt; Slack reply -&gt; Audit</a:t>
            </a:r>
            <a:endParaRPr lang="en-US" sz="1200" dirty="0"/>
          </a:p>
        </p:txBody>
      </p:sp>
      <p:sp>
        <p:nvSpPr>
          <p:cNvPr id="12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— Claude AI IT Helpdesk Assistant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1 — build steps &amp; demo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Provision Postgres+pgvector and Redis.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Slack app; wire Events API to /slack/events.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Ingest a KB snapshot into pgvector with source URLs.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Implement tool functions with dry-run flags.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Add guardrails (prompt injection, PII, forbidden topics).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Wire approval queue (Slack interactive message).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Deploy to Cloud Run; add dashboards.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Pilot with IT team for 2 weeks; review every trace.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Roll out to org; keep human-in-loop for destructive actions.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5760720"/>
            <a:ext cx="11277295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8064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Beginner: Implement 'search_kb' and 'create_ticket' tools with mocks. 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Intermediate: Add an approval step for destructive tools. 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Measure deflection rate and MTTR before/after launch.</a:t>
            </a:r>
            <a:endParaRPr lang="en-US" sz="1000" dirty="0"/>
          </a:p>
        </p:txBody>
      </p:sp>
      <p:sp>
        <p:nvSpPr>
          <p:cNvPr id="8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2 — Enterprise Knowledge AI Chatbot (RAG)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2 —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the 'where is this document?' problem; dramatically improves onboarding.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FastAPI + pgvector (hybrid) + Cohere/bge rerank + Claude Sonnet + Slack + web UI (Next.js). Per-tenant ACLs enforced at retrieval time.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4415" cy="164592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343400"/>
            <a:ext cx="10881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Connectors -&gt; Chunk -&gt; Embed -&gt; pgvector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-&gt; UI -&gt; API -&gt; Hybrid retrieve -&gt; Rerank -&gt; Claude -&gt; Answer + [citations] -&gt; Feedback</a:t>
            </a:r>
            <a:endParaRPr lang="en-US" sz="1200" dirty="0"/>
          </a:p>
        </p:txBody>
      </p:sp>
      <p:sp>
        <p:nvSpPr>
          <p:cNvPr id="12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2 — Enterprise Knowledge AI Chatbot (RAG)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2 — build steps &amp; demo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Stand up Postgres+pgvector and connector keys.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ingest jobs per source with incremental updates.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Chunk (recursive, 800/120) + embed (bge-base or Voyage).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Serve hybrid retrieve + reranker + Claude + cite.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Ship Slack + web UI with feedback capture.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Enforce ACLs at retrieval.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Build eval set from real questions; run RAGAS nightly.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Launch to a pilot team; iterate for 2 weeks.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Expand org-wide with a support rotation.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5760720"/>
            <a:ext cx="11277295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8064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Beginner: Ingest Notion and serve Slack answers. 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Intermediate: Add Drive + GitHub + hybrid search + reranker. 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Add ACL filtering + weekly eval report + thumbs feedback loop.</a:t>
            </a:r>
            <a:endParaRPr lang="en-US" sz="1000" dirty="0"/>
          </a:p>
        </p:txBody>
      </p:sp>
      <p:sp>
        <p:nvSpPr>
          <p:cNvPr id="8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3 — AI Documentation Generator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3 —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are never done. This keeps them current with minimal human cost.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GitHub Action + Claude + docs repo. Analyzes diff + surrounding files; proposes doc PRs.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4415" cy="164592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343400"/>
            <a:ext cx="10881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merged -&gt; Action -&gt; Claude analyzes diff -&gt; Updates /docs -&gt; Opens docs PR -&gt; Human review</a:t>
            </a:r>
            <a:endParaRPr lang="en-US" sz="1200" dirty="0"/>
          </a:p>
        </p:txBody>
      </p:sp>
      <p:sp>
        <p:nvSpPr>
          <p:cNvPr id="12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3 — AI Documentation Generator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3 — build steps &amp; demo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 docs site (Docusaurus/MkDocs).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ai_docs.py: pull PR diff; fetch context; call Claude with style guide.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generated markdown to /docs; open PR via peter-evans action.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 Vale linting in CI.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Add 'skip-docs' label to bypass.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Track docs drift metric; publish weekly.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5760720"/>
            <a:ext cx="11277295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8064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Beginner: Generate a README from one repo. 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Intermediate: Wire a GitHub Action; auto-open docs PRs. 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Add Vale linting + screenshot capture + ADR template detection.</a:t>
            </a:r>
            <a:endParaRPr lang="en-US" sz="1000" dirty="0"/>
          </a:p>
        </p:txBody>
      </p:sp>
      <p:sp>
        <p:nvSpPr>
          <p:cNvPr id="8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4 — DevOps AI Automation Bot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4 —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MTTR and frees on-call engineers from repetitive toil.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PagerDuty/Opsgenie webhooks → service → Claude + tools (logs, metrics, K8s read-only, runbook KB) → Slack war-room → approval for writes.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4415" cy="164592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343400"/>
            <a:ext cx="10881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-&gt; Bot -&gt; Gather (logs/metrics/k8s) -&gt; Claude RCA -&gt; Suggest action -&gt; Approval (Slack) -&gt; Execute -&gt; Post-incident summary</a:t>
            </a:r>
            <a:endParaRPr lang="en-US" sz="1200" dirty="0"/>
          </a:p>
        </p:txBody>
      </p:sp>
      <p:sp>
        <p:nvSpPr>
          <p:cNvPr id="12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4 — DevOps AI Automation Bot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4 — build steps &amp; demo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Wire PagerDuty webhook to /alerts.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read-only tools first (logs, metrics, pod status).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Claude agent drafts RCA + next steps.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 to war-room Slack channel.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Add gated write tools with Slack approval UI.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Record every run for post-incident review.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Expand tool inventory gradually with ownership approvals.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5760720"/>
            <a:ext cx="11277295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8064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Beginner: Read-only bot that fetches pod status and summarizes. 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Intermediate: Add metrics + logs queries + RCA summary. 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Add gated write actions (restart deploy) with dual approval.</a:t>
            </a:r>
            <a:endParaRPr lang="en-US" sz="1000" dirty="0"/>
          </a:p>
        </p:txBody>
      </p:sp>
      <p:sp>
        <p:nvSpPr>
          <p:cNvPr id="8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5 — AI Research Assistant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5 —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agents, RAG, and tool use at their limits; produces portfolio-grade deliverables.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LangGraph plan-execute + web search tool + PDF tool + private RAG + Claude Opus planner / Sonnet executor. Output: markdown + docx + slide deck.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4415" cy="164592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343400"/>
            <a:ext cx="10881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 -&gt; Plan (Opus) -&gt; Search (web+private) -&gt; Read -&gt; Synthesize (Sonnet) -&gt; Cite -&gt; Export (md/docx/pptx)</a:t>
            </a:r>
            <a:endParaRPr lang="en-US" sz="1200" dirty="0"/>
          </a:p>
        </p:txBody>
      </p:sp>
      <p:sp>
        <p:nvSpPr>
          <p:cNvPr id="12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5 — AI Research Assistant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5 — build steps &amp; demo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the graph (plan, search, read, synth, cite).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Wire web search + private RAG tools.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Opus for planning; Sonnet for per-section writing.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 a 'verify citations' node that rejects unsupported claims.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Export to markdown + docx + pptx.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Evaluate with expert reviewers on 5 topics; iterate.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5760720"/>
            <a:ext cx="11277295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8064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Beginner: Produce a 3-page research memo with 10 citations. 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Intermediate: Add private RAG + parallel reading of 20 docs. 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Produce a full report + companion slide deck + exec summary.</a:t>
            </a:r>
            <a:endParaRPr lang="en-US" sz="1000" dirty="0"/>
          </a:p>
        </p:txBody>
      </p:sp>
      <p:sp>
        <p:nvSpPr>
          <p:cNvPr id="8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rehearsed instructor scripts</a:t>
            </a:r>
            <a:endParaRPr lang="en-US" sz="2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— From claude.ai to API in 15 minutes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— instructor beats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claude.ai, send a prompt, save the same prompt as a Python function.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10944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claude.ai; run 'Summarize this policy in 5 bullets'.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Code; create policy_summarizer.py with the same prompt.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anthropic; set ANTHROPIC_API_KEY.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script; show identical quality.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into a function that accepts a path and returns JSON.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retries and structured logging.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'You now have a reusable productivity tool.'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5760720"/>
            <a:ext cx="11277295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852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Gotchas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env var — fail loudly, then fix.   •   Windows encoding — set UTF-8.</a:t>
            </a:r>
            <a:endParaRPr lang="en-US" sz="1100" dirty="0"/>
          </a:p>
        </p:txBody>
      </p:sp>
      <p:sp>
        <p:nvSpPr>
          <p:cNvPr id="11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— Tool use: building a calculator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— instructor beats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Claude refusing to do long arithmetic, then solving it with a calculator tool.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10944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compute 4712 * 9183; point out the error.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calculator tool; re-run; show correct answer.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'get_time' tool for today's date; demonstrate freshness.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each tool call and argument.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'Tools = superpowers; observability is mandatory.'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5760720"/>
            <a:ext cx="11277295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852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Gotchas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input schema mismatch — show error, correct.   •   Infinite tool loops — add step cap.</a:t>
            </a:r>
            <a:endParaRPr lang="en-US" sz="1100" dirty="0"/>
          </a:p>
        </p:txBody>
      </p:sp>
      <p:sp>
        <p:nvSpPr>
          <p:cNvPr id="11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— RAG in 40 lines of Python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— instructor beats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tiny RAG over 3 markdown files using Chroma, then extend with citations.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10944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/docs with 3 policy.md files.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chromadb; build collection; add chunks.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'What is our refund window?'; show top-3.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Claude with context and require [id] citations.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embeddings; show improvement.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'RAG is simple — quality is in the details.'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5760720"/>
            <a:ext cx="11277295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852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Gotchas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issues with Chroma persistence — use absolute.   •   Forgetting to embed; keep embedder consistent for query + doc.</a:t>
            </a:r>
            <a:endParaRPr lang="en-US" sz="1100" dirty="0"/>
          </a:p>
        </p:txBody>
      </p:sp>
      <p:sp>
        <p:nvSpPr>
          <p:cNvPr id="11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 — Deploy a Slack bot in one sitting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 — instructor beats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 /ask command in Slack, deployed to Cloud Run.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10944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Slack app; enable Events + slash commands.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FastAPI with /slack/events.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in &lt;3s; do work async.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'gcloud run deploy'.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Slack with the public URL.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/ask in Slack; show Claude answering.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'Productionization is now a Wednesday afternoon.'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5760720"/>
            <a:ext cx="11277295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852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Gotchas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verification — must implement.   •   Slack 3s timeout — acknowledge first; work later.</a:t>
            </a:r>
            <a:endParaRPr lang="en-US" sz="1100" dirty="0"/>
          </a:p>
        </p:txBody>
      </p:sp>
      <p:sp>
        <p:nvSpPr>
          <p:cNvPr id="11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5 — Canary a prompt change with online evaluation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5 — instructor beats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10% of traffic to a new prompt; watch dashboards; promote.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10944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current prompt and its quality dashboard.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v2 prompt; add feature flag.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Deploy; route 10% to v2.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CSAT + cost + latency on matched samples.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if better; rollback if not.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'Prompts are code; treat them like code.'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5760720"/>
            <a:ext cx="11277295" cy="777240"/>
          </a:xfrm>
          <a:prstGeom prst="rect">
            <a:avLst/>
          </a:prstGeom>
          <a:solidFill>
            <a:srgbClr val="F2F4F8"/>
          </a:solidFill>
          <a:ln w="9525">
            <a:solidFill>
              <a:srgbClr val="D0D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852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Gotchas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sampling — stratify.   •   False wins on tiny samples — require minimums.</a:t>
            </a:r>
            <a:endParaRPr lang="en-US" sz="1100" dirty="0"/>
          </a:p>
        </p:txBody>
      </p:sp>
      <p:sp>
        <p:nvSpPr>
          <p:cNvPr id="11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assignments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deliverables across 20 weeks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8442655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Library 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10 role-based prompts to a GitHub repo with examples and a CHANGELOG.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5-shot Classifier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50 support tickets; build a 5-shot Claude classifier; achieve &gt;=90% accuracy on a holdout of 10.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Capstone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Claude Workstation: 3 Projects, 10 templates, 20-prompt eval set, privacy checklist.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README-from-Repo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a README for an old repo; pass Vale lint with 0 warnings.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to Executive Brief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a messy CSV; produce 5 insights with charts and a 1-page memo.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A/B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promptfoo on 2 prompts over 30 inputs; publish the report.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Capstone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Automation Suite: 3 automations saving &gt;=2h/week; README with metrics.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Tool on PyPI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a pip-installable Claude CLI.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3-Tool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with search, DB, email; 10 tested scenarios.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Endpoint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service on Cloud Run; /health, /chat; public URL.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Capstone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Deployable microservice with /classify, /summarize, /chat; CI + tests.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over 50 markdown files with citations; RAGAS groundedness &gt;=0.8.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vs Vector-Only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both; publish accuracy/latency/cost comparison on 50 queries.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that self-critiques; beat the non-reflective baseline by &gt;=5% on eval.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Approval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with human-in-loop approval node; full trace capture.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 Capstone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Knowledge Assistant across 3 sources with ACLs.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Architecture Doc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a 4-page enterprise reference architecture ADR.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Routing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per feature, Haiku/Sonnet/Opus routing design, prompt caching plan.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 Capstone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reference repo: gateway, router, RAG, eval, obs, infra.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 Demo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one of the five capstones; present in demo day.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drills between modules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 vague prompt into 6-section structure (role, context, task, format, rules, example).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JSON-schema-validated classifier with pydantic retries.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a 60-page PDF three ways; compare RAG recall.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bash script with a Claude-powered Python script doing the same job with explanations.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citations to an existing RAG pipeline and measure groundedness.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 prompt from Sonnet 4.4 -&gt; 4.6; keep parity.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your own Claude app with 20 adversarial prompts.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incident runbook that an on-call engineer can follow with Claude.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'lessons learned' post from a failed prompt and what fixed it.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an agent from ReAct to Plan-Execute; compare cost and success rate.</a:t>
            </a:r>
            <a:endParaRPr lang="en-US" sz="14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rubric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per criterion (0=missing, 3=meets, 5=exemplary)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5121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framing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user, pain, and ROI narrative.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Diagrams + ADRs; tradeoffs documented.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structure, tests, docs, CI.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/ Tool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retrieval, citations, safe tool use.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&amp; ethics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Guardrails, PII handling, ACLs, audit logs.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 &amp;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Metrics, dashboards, budgets, routing.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set, metrics (groundedness, relevance), CI gate.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/ Demo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Shippable polish; real user feedback captured.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readiness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GitHub repo, README, demo video/screenshots.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narrative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Quantified time saved, $ saved, or CSAT lift.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30/50 minimum; 40/50 for distinction.  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presentation + 5 min live demo + 5 min Q&amp;A; 3 reviewers per project.</a:t>
            </a:r>
            <a:endParaRPr lang="en-US" sz="1200" dirty="0"/>
          </a:p>
        </p:txBody>
      </p:sp>
      <p:sp>
        <p:nvSpPr>
          <p:cNvPr id="7" name="Text 4"/>
          <p:cNvSpPr/>
          <p:nvPr>
            <p:ph idx="104" type="body" hasCustomPrompt="1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6019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a Claude AI Engineer.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
</a:t>
            </a:r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Publish your five capstones on GitHub with polished READMEs.
</a:t>
            </a:r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Record a demo-day video for each capstone.
</a:t>
            </a:r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Apply for AI Engineer, LLM Engineer, or AI Architect roles.
</a:t>
            </a:r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Contribute back — open source a prompt, a tool, or a dataset.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</vt:vector>
  </TitlesOfParts>
  <Company>Claude AI Mastery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AI Mastery — From Beginner to Enterprise AI Engineer</dc:title>
  <dc:subject>A 100-module professional training program</dc:subject>
  <dc:creator>AJSSN — Senior AI Architect Training Program</dc:creator>
  <cp:lastModifiedBy>AJSSN — Senior AI Architect Training Program</cp:lastModifiedBy>
  <cp:revision>1</cp:revision>
  <dcterms:created xsi:type="dcterms:W3CDTF">2026-04-16T19:12:19Z</dcterms:created>
  <dcterms:modified xsi:type="dcterms:W3CDTF">2026-04-16T19:12:19Z</dcterms:modified>
</cp:coreProperties>
</file>